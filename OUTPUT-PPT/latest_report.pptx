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4E79"/>
        </a:solidFill>
        <a:effectLst/>
      </p:bgPr>
    </p:bg>
    <p:spTree>
      <p:nvGrpSpPr>
        <p:cNvPr id="1" name=""/>
        <p:cNvGrpSpPr/>
        <p:nvPr/>
      </p:nvGrpSpPr>
      <p:grpSpPr/>
      <p:sp>
        <p:nvSpPr>
          <p:cNvPr id="2" name="TextBox 1"/>
          <p:cNvSpPr txBox="1"/>
          <p:nvPr/>
        </p:nvSpPr>
        <p:spPr>
          <a:xfrm>
            <a:off x="914400" y="1828800"/>
            <a:ext cx="7315200" cy="1371600"/>
          </a:xfrm>
          <a:prstGeom prst="rect">
            <a:avLst/>
          </a:prstGeom>
          <a:noFill/>
        </p:spPr>
        <p:txBody>
          <a:bodyPr wrap="none">
            <a:spAutoFit/>
          </a:bodyPr>
          <a:lstStyle/>
          <a:p>
            <a:pPr algn="ctr">
              <a:defRPr sz="3600" b="1">
                <a:solidFill>
                  <a:srgbClr val="FFFFFF"/>
                </a:solidFill>
              </a:defRPr>
            </a:pPr>
            <a:r>
              <a:t>Footfall &amp; Traffic Analysis</a:t>
            </a:r>
          </a:p>
        </p:txBody>
      </p:sp>
      <p:sp>
        <p:nvSpPr>
          <p:cNvPr id="3" name="TextBox 2"/>
          <p:cNvSpPr txBox="1"/>
          <p:nvPr/>
        </p:nvSpPr>
        <p:spPr>
          <a:xfrm>
            <a:off x="914400" y="3474720"/>
            <a:ext cx="7315200" cy="914400"/>
          </a:xfrm>
          <a:prstGeom prst="rect">
            <a:avLst/>
          </a:prstGeom>
          <a:noFill/>
        </p:spPr>
        <p:txBody>
          <a:bodyPr wrap="none">
            <a:spAutoFit/>
          </a:bodyPr>
          <a:lstStyle/>
          <a:p>
            <a:pPr algn="ctr">
              <a:defRPr sz="1800">
                <a:solidFill>
                  <a:srgbClr val="C8DCF0"/>
                </a:solidFill>
              </a:defRPr>
            </a:pPr>
            <a:r>
              <a:t>Business Performance Analysis &amp; Strategic Insights</a:t>
            </a:r>
          </a:p>
        </p:txBody>
      </p:sp>
      <p:sp>
        <p:nvSpPr>
          <p:cNvPr id="4" name="TextBox 3"/>
          <p:cNvSpPr txBox="1"/>
          <p:nvPr/>
        </p:nvSpPr>
        <p:spPr>
          <a:xfrm>
            <a:off x="914400" y="5486400"/>
            <a:ext cx="7315200" cy="457200"/>
          </a:xfrm>
          <a:prstGeom prst="rect">
            <a:avLst/>
          </a:prstGeom>
          <a:noFill/>
        </p:spPr>
        <p:txBody>
          <a:bodyPr wrap="none">
            <a:spAutoFit/>
          </a:bodyPr>
          <a:lstStyle/>
          <a:p>
            <a:pPr algn="ctr">
              <a:defRPr sz="1400">
                <a:solidFill>
                  <a:srgbClr val="B4C8DC"/>
                </a:solidFill>
              </a:defRPr>
            </a:pPr>
            <a:r>
              <a:t>Generated on December 03, 2025 | Data Period: Jan 2024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914400" y="457200"/>
            <a:ext cx="7315200" cy="914400"/>
          </a:xfrm>
          <a:prstGeom prst="rect">
            <a:avLst/>
          </a:prstGeom>
          <a:noFill/>
        </p:spPr>
        <p:txBody>
          <a:bodyPr wrap="none">
            <a:spAutoFit/>
          </a:bodyPr>
          <a:lstStyle/>
          <a:p>
            <a:pPr algn="l">
              <a:defRPr sz="2400" b="1">
                <a:solidFill>
                  <a:srgbClr val="2E75B6"/>
                </a:solidFill>
              </a:defRPr>
            </a:pPr>
            <a:r>
              <a:t>Executive Summary</a:t>
            </a:r>
          </a:p>
        </p:txBody>
      </p:sp>
      <p:sp>
        <p:nvSpPr>
          <p:cNvPr id="3" name="TextBox 2"/>
          <p:cNvSpPr txBox="1"/>
          <p:nvPr/>
        </p:nvSpPr>
        <p:spPr>
          <a:xfrm>
            <a:off x="914400" y="1828800"/>
            <a:ext cx="7315200" cy="4114800"/>
          </a:xfrm>
          <a:prstGeom prst="rect">
            <a:avLst/>
          </a:prstGeom>
          <a:noFill/>
        </p:spPr>
        <p:txBody>
          <a:bodyPr wrap="square">
            <a:spAutoFit/>
          </a:bodyPr>
          <a:lstStyle/>
          <a:p>
            <a:pPr>
              <a:lnSpc>
                <a:spcPct val="140000"/>
              </a:lnSpc>
              <a:defRPr sz="1600">
                <a:solidFill>
                  <a:srgbClr val="333333"/>
                </a:solidFill>
              </a:defRPr>
            </a:pPr>
            <a:r>
              <a:t>Here are the key business insights derived from the operations metrics: Overall, our operations exhibit a healthy average daily footfall of 641 visitors, with a significant proportion, 506.07, being unique visitors. This indicates strong daily reach to distinct customers. The average visit duration across all operations is approximately 13.2 minutes, suggesting that visitors are spending some time engaged within our stores.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914400" y="457200"/>
            <a:ext cx="7315200" cy="914400"/>
          </a:xfrm>
          <a:prstGeom prst="rect">
            <a:avLst/>
          </a:prstGeom>
          <a:noFill/>
        </p:spPr>
        <p:txBody>
          <a:bodyPr wrap="none">
            <a:spAutoFit/>
          </a:bodyPr>
          <a:lstStyle/>
          <a:p>
            <a:pPr algn="l">
              <a:defRPr sz="2400" b="1">
                <a:solidFill>
                  <a:srgbClr val="2E75B6"/>
                </a:solidFill>
              </a:defRPr>
            </a:pPr>
            <a:r>
              <a:t>Key Performance Indicators</a:t>
            </a:r>
          </a:p>
        </p:txBody>
      </p:sp>
      <p:sp>
        <p:nvSpPr>
          <p:cNvPr id="3" name="TextBox 2"/>
          <p:cNvSpPr txBox="1"/>
          <p:nvPr/>
        </p:nvSpPr>
        <p:spPr>
          <a:xfrm>
            <a:off x="457200" y="2011680"/>
            <a:ext cx="2560320" cy="1280160"/>
          </a:xfrm>
          <a:prstGeom prst="rect">
            <a:avLst/>
          </a:prstGeom>
          <a:noFill/>
        </p:spPr>
        <p:txBody>
          <a:bodyPr wrap="square">
            <a:spAutoFit/>
          </a:bodyPr>
          <a:lstStyle/>
          <a:p>
            <a:pPr>
              <a:defRPr sz="1200" b="1">
                <a:solidFill>
                  <a:srgbClr val="2E75B6"/>
                </a:solidFill>
              </a:defRPr>
            </a:pPr>
            <a:r>
              <a:t>Totalal Footfall</a:t>
            </a:r>
          </a:p>
          <a:p>
            <a:pPr>
              <a:defRPr sz="2000" b="1">
                <a:solidFill>
                  <a:srgbClr val="333333"/>
                </a:solidFill>
              </a:defRPr>
            </a:pPr>
            <a:r>
              <a:t>641</a:t>
            </a:r>
          </a:p>
        </p:txBody>
      </p:sp>
      <p:sp>
        <p:nvSpPr>
          <p:cNvPr id="4" name="TextBox 3"/>
          <p:cNvSpPr txBox="1"/>
          <p:nvPr/>
        </p:nvSpPr>
        <p:spPr>
          <a:xfrm>
            <a:off x="3291840" y="2011680"/>
            <a:ext cx="2560320" cy="1280160"/>
          </a:xfrm>
          <a:prstGeom prst="rect">
            <a:avLst/>
          </a:prstGeom>
          <a:noFill/>
        </p:spPr>
        <p:txBody>
          <a:bodyPr wrap="square">
            <a:spAutoFit/>
          </a:bodyPr>
          <a:lstStyle/>
          <a:p>
            <a:pPr>
              <a:defRPr sz="1200" b="1">
                <a:solidFill>
                  <a:srgbClr val="2E75B6"/>
                </a:solidFill>
              </a:defRPr>
            </a:pPr>
            <a:r>
              <a:t>Totalal Unique ...</a:t>
            </a:r>
          </a:p>
          <a:p>
            <a:pPr>
              <a:defRPr sz="2000" b="1">
                <a:solidFill>
                  <a:srgbClr val="333333"/>
                </a:solidFill>
              </a:defRPr>
            </a:pPr>
            <a:r>
              <a:t>506</a:t>
            </a:r>
          </a:p>
        </p:txBody>
      </p:sp>
      <p:sp>
        <p:nvSpPr>
          <p:cNvPr id="5" name="TextBox 4"/>
          <p:cNvSpPr txBox="1"/>
          <p:nvPr/>
        </p:nvSpPr>
        <p:spPr>
          <a:xfrm>
            <a:off x="6126480" y="2011680"/>
            <a:ext cx="2560320" cy="1280160"/>
          </a:xfrm>
          <a:prstGeom prst="rect">
            <a:avLst/>
          </a:prstGeom>
          <a:noFill/>
        </p:spPr>
        <p:txBody>
          <a:bodyPr wrap="square">
            <a:spAutoFit/>
          </a:bodyPr>
          <a:lstStyle/>
          <a:p>
            <a:pPr>
              <a:defRPr sz="1200" b="1">
                <a:solidFill>
                  <a:srgbClr val="2E75B6"/>
                </a:solidFill>
              </a:defRPr>
            </a:pPr>
            <a:r>
              <a:t>Overall Average...</a:t>
            </a:r>
          </a:p>
          <a:p>
            <a:pPr>
              <a:defRPr sz="2000" b="1">
                <a:solidFill>
                  <a:srgbClr val="333333"/>
                </a:solidFill>
              </a:defRPr>
            </a:pPr>
            <a:r>
              <a:t>13.2</a:t>
            </a:r>
          </a:p>
        </p:txBody>
      </p:sp>
      <p:sp>
        <p:nvSpPr>
          <p:cNvPr id="6" name="TextBox 5"/>
          <p:cNvSpPr txBox="1"/>
          <p:nvPr/>
        </p:nvSpPr>
        <p:spPr>
          <a:xfrm>
            <a:off x="457200" y="3657600"/>
            <a:ext cx="2560320" cy="1280160"/>
          </a:xfrm>
          <a:prstGeom prst="rect">
            <a:avLst/>
          </a:prstGeom>
          <a:noFill/>
        </p:spPr>
        <p:txBody>
          <a:bodyPr wrap="square">
            <a:spAutoFit/>
          </a:bodyPr>
          <a:lstStyle/>
          <a:p>
            <a:pPr>
              <a:defRPr sz="1200" b="1">
                <a:solidFill>
                  <a:srgbClr val="2E75B6"/>
                </a:solidFill>
              </a:defRPr>
            </a:pPr>
            <a:r>
              <a:t>Average Daily F...</a:t>
            </a:r>
          </a:p>
          <a:p>
            <a:pPr>
              <a:defRPr sz="2000" b="1">
                <a:solidFill>
                  <a:srgbClr val="333333"/>
                </a:solidFill>
              </a:defRPr>
            </a:pPr>
            <a:r>
              <a:t>371.0</a:t>
            </a:r>
          </a:p>
        </p:txBody>
      </p:sp>
      <p:sp>
        <p:nvSpPr>
          <p:cNvPr id="7" name="TextBox 6"/>
          <p:cNvSpPr txBox="1"/>
          <p:nvPr/>
        </p:nvSpPr>
        <p:spPr>
          <a:xfrm>
            <a:off x="3291840" y="3657600"/>
            <a:ext cx="2560320" cy="1280160"/>
          </a:xfrm>
          <a:prstGeom prst="rect">
            <a:avLst/>
          </a:prstGeom>
          <a:noFill/>
        </p:spPr>
        <p:txBody>
          <a:bodyPr wrap="square">
            <a:spAutoFit/>
          </a:bodyPr>
          <a:lstStyle/>
          <a:p>
            <a:pPr>
              <a:defRPr sz="1200" b="1">
                <a:solidFill>
                  <a:srgbClr val="2E75B6"/>
                </a:solidFill>
              </a:defRPr>
            </a:pPr>
            <a:r>
              <a:t>Row Count</a:t>
            </a:r>
          </a:p>
          <a:p>
            <a:pPr>
              <a:defRPr sz="2000" b="1">
                <a:solidFill>
                  <a:srgbClr val="333333"/>
                </a:solidFill>
              </a:defRPr>
            </a:pPr>
            <a:r>
              <a:t>30</a:t>
            </a:r>
          </a:p>
        </p:txBody>
      </p:sp>
      <p:sp>
        <p:nvSpPr>
          <p:cNvPr id="8" name="TextBox 7"/>
          <p:cNvSpPr txBox="1"/>
          <p:nvPr/>
        </p:nvSpPr>
        <p:spPr>
          <a:xfrm>
            <a:off x="6126480" y="3657600"/>
            <a:ext cx="2560320" cy="1280160"/>
          </a:xfrm>
          <a:prstGeom prst="rect">
            <a:avLst/>
          </a:prstGeom>
          <a:noFill/>
        </p:spPr>
        <p:txBody>
          <a:bodyPr wrap="square">
            <a:spAutoFit/>
          </a:bodyPr>
          <a:lstStyle/>
          <a:p>
            <a:pPr>
              <a:defRPr sz="1200" b="1">
                <a:solidFill>
                  <a:srgbClr val="2E75B6"/>
                </a:solidFill>
              </a:defRPr>
            </a:pPr>
            <a:r>
              <a:t>Column Count</a:t>
            </a:r>
          </a:p>
          <a:p>
            <a:pPr>
              <a:defRPr sz="2000" b="1">
                <a:solidFill>
                  <a:srgbClr val="333333"/>
                </a:solidFill>
              </a:defRPr>
            </a:pPr>
            <a:r>
              <a:t>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914400" y="457200"/>
            <a:ext cx="7315200" cy="914400"/>
          </a:xfrm>
          <a:prstGeom prst="rect">
            <a:avLst/>
          </a:prstGeom>
          <a:noFill/>
        </p:spPr>
        <p:txBody>
          <a:bodyPr wrap="none">
            <a:spAutoFit/>
          </a:bodyPr>
          <a:lstStyle/>
          <a:p>
            <a:pPr algn="l">
              <a:defRPr sz="2400" b="1">
                <a:solidFill>
                  <a:srgbClr val="2E75B6"/>
                </a:solidFill>
              </a:defRPr>
            </a:pPr>
            <a:r>
              <a:t>Performance Trends Analysis</a:t>
            </a:r>
          </a:p>
        </p:txBody>
      </p:sp>
      <p:sp>
        <p:nvSpPr>
          <p:cNvPr id="3" name="TextBox 2"/>
          <p:cNvSpPr txBox="1"/>
          <p:nvPr/>
        </p:nvSpPr>
        <p:spPr>
          <a:xfrm>
            <a:off x="914400" y="1645920"/>
            <a:ext cx="7315200" cy="548640"/>
          </a:xfrm>
          <a:prstGeom prst="rect">
            <a:avLst/>
          </a:prstGeom>
          <a:noFill/>
        </p:spPr>
        <p:txBody>
          <a:bodyPr wrap="none">
            <a:spAutoFit/>
          </a:bodyPr>
          <a:lstStyle/>
          <a:p>
            <a:pPr>
              <a:defRPr sz="1200">
                <a:solidFill>
                  <a:srgbClr val="666666"/>
                </a:solidFill>
              </a:defRPr>
            </a:pPr>
            <a:r>
              <a:t>Trend analysis showing performance patterns over time with key inflection points highlighted.</a:t>
            </a:r>
          </a:p>
        </p:txBody>
      </p:sp>
      <p:pic>
        <p:nvPicPr>
          <p:cNvPr id="4" name="Picture 3" descr="operations_metrics_20251203_140609_1_trend.png"/>
          <p:cNvPicPr>
            <a:picLocks noChangeAspect="1"/>
          </p:cNvPicPr>
          <p:nvPr/>
        </p:nvPicPr>
        <p:blipFill>
          <a:blip r:embed="rId2"/>
          <a:stretch>
            <a:fillRect/>
          </a:stretch>
        </p:blipFill>
        <p:spPr>
          <a:xfrm>
            <a:off x="457200" y="2286000"/>
            <a:ext cx="8229600" cy="41148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914400" y="457200"/>
            <a:ext cx="7315200" cy="914400"/>
          </a:xfrm>
          <a:prstGeom prst="rect">
            <a:avLst/>
          </a:prstGeom>
          <a:noFill/>
        </p:spPr>
        <p:txBody>
          <a:bodyPr wrap="none">
            <a:spAutoFit/>
          </a:bodyPr>
          <a:lstStyle/>
          <a:p>
            <a:pPr algn="l">
              <a:defRPr sz="2400" b="1">
                <a:solidFill>
                  <a:srgbClr val="2E75B6"/>
                </a:solidFill>
              </a:defRPr>
            </a:pPr>
            <a:r>
              <a:t>Key Metrics Dashboard</a:t>
            </a:r>
          </a:p>
        </p:txBody>
      </p:sp>
      <p:sp>
        <p:nvSpPr>
          <p:cNvPr id="3" name="TextBox 2"/>
          <p:cNvSpPr txBox="1"/>
          <p:nvPr/>
        </p:nvSpPr>
        <p:spPr>
          <a:xfrm>
            <a:off x="914400" y="1645920"/>
            <a:ext cx="7315200" cy="548640"/>
          </a:xfrm>
          <a:prstGeom prst="rect">
            <a:avLst/>
          </a:prstGeom>
          <a:noFill/>
        </p:spPr>
        <p:txBody>
          <a:bodyPr wrap="none">
            <a:spAutoFit/>
          </a:bodyPr>
          <a:lstStyle/>
          <a:p>
            <a:pPr>
              <a:defRPr sz="1200">
                <a:solidFill>
                  <a:srgbClr val="666666"/>
                </a:solidFill>
              </a:defRPr>
            </a:pPr>
            <a:r>
              <a:t>Comprehensive metrics overview displaying relationships between key performance indicators.</a:t>
            </a:r>
          </a:p>
        </p:txBody>
      </p:sp>
      <p:pic>
        <p:nvPicPr>
          <p:cNvPr id="4" name="Picture 3" descr="operations_metrics_20251203_140609_2_trend.png"/>
          <p:cNvPicPr>
            <a:picLocks noChangeAspect="1"/>
          </p:cNvPicPr>
          <p:nvPr/>
        </p:nvPicPr>
        <p:blipFill>
          <a:blip r:embed="rId2"/>
          <a:stretch>
            <a:fillRect/>
          </a:stretch>
        </p:blipFill>
        <p:spPr>
          <a:xfrm>
            <a:off x="457200" y="2286000"/>
            <a:ext cx="8229600" cy="41148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914400" y="457200"/>
            <a:ext cx="7315200" cy="914400"/>
          </a:xfrm>
          <a:prstGeom prst="rect">
            <a:avLst/>
          </a:prstGeom>
          <a:noFill/>
        </p:spPr>
        <p:txBody>
          <a:bodyPr wrap="none">
            <a:spAutoFit/>
          </a:bodyPr>
          <a:lstStyle/>
          <a:p>
            <a:pPr algn="l">
              <a:defRPr sz="2400" b="1">
                <a:solidFill>
                  <a:srgbClr val="2E75B6"/>
                </a:solidFill>
              </a:defRPr>
            </a:pPr>
            <a:r>
              <a:t>Analysis Chart 3</a:t>
            </a:r>
          </a:p>
        </p:txBody>
      </p:sp>
      <p:sp>
        <p:nvSpPr>
          <p:cNvPr id="3" name="TextBox 2"/>
          <p:cNvSpPr txBox="1"/>
          <p:nvPr/>
        </p:nvSpPr>
        <p:spPr>
          <a:xfrm>
            <a:off x="914400" y="1645920"/>
            <a:ext cx="7315200" cy="548640"/>
          </a:xfrm>
          <a:prstGeom prst="rect">
            <a:avLst/>
          </a:prstGeom>
          <a:noFill/>
        </p:spPr>
        <p:txBody>
          <a:bodyPr wrap="none">
            <a:spAutoFit/>
          </a:bodyPr>
          <a:lstStyle/>
          <a:p>
            <a:pPr>
              <a:defRPr sz="1200">
                <a:solidFill>
                  <a:srgbClr val="666666"/>
                </a:solidFill>
              </a:defRPr>
            </a:pPr>
            <a:r>
              <a:t>Data visualization and analysis.</a:t>
            </a:r>
          </a:p>
        </p:txBody>
      </p:sp>
      <p:pic>
        <p:nvPicPr>
          <p:cNvPr id="4" name="Picture 3" descr="operations_metrics_20251203_140609_3_comparison.png"/>
          <p:cNvPicPr>
            <a:picLocks noChangeAspect="1"/>
          </p:cNvPicPr>
          <p:nvPr/>
        </p:nvPicPr>
        <p:blipFill>
          <a:blip r:embed="rId2"/>
          <a:stretch>
            <a:fillRect/>
          </a:stretch>
        </p:blipFill>
        <p:spPr>
          <a:xfrm>
            <a:off x="457200" y="2286000"/>
            <a:ext cx="8229600" cy="41148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914400" y="457200"/>
            <a:ext cx="7315200" cy="914400"/>
          </a:xfrm>
          <a:prstGeom prst="rect">
            <a:avLst/>
          </a:prstGeom>
          <a:noFill/>
        </p:spPr>
        <p:txBody>
          <a:bodyPr wrap="none">
            <a:spAutoFit/>
          </a:bodyPr>
          <a:lstStyle/>
          <a:p>
            <a:pPr algn="l">
              <a:defRPr sz="2400" b="1">
                <a:solidFill>
                  <a:srgbClr val="2E75B6"/>
                </a:solidFill>
              </a:defRPr>
            </a:pPr>
            <a:r>
              <a:t>Analysis Chart 4</a:t>
            </a:r>
          </a:p>
        </p:txBody>
      </p:sp>
      <p:sp>
        <p:nvSpPr>
          <p:cNvPr id="3" name="TextBox 2"/>
          <p:cNvSpPr txBox="1"/>
          <p:nvPr/>
        </p:nvSpPr>
        <p:spPr>
          <a:xfrm>
            <a:off x="914400" y="1645920"/>
            <a:ext cx="7315200" cy="548640"/>
          </a:xfrm>
          <a:prstGeom prst="rect">
            <a:avLst/>
          </a:prstGeom>
          <a:noFill/>
        </p:spPr>
        <p:txBody>
          <a:bodyPr wrap="none">
            <a:spAutoFit/>
          </a:bodyPr>
          <a:lstStyle/>
          <a:p>
            <a:pPr>
              <a:defRPr sz="1200">
                <a:solidFill>
                  <a:srgbClr val="666666"/>
                </a:solidFill>
              </a:defRPr>
            </a:pPr>
            <a:r>
              <a:t>Data visualization and analysis.</a:t>
            </a:r>
          </a:p>
        </p:txBody>
      </p:sp>
      <p:pic>
        <p:nvPicPr>
          <p:cNvPr id="4" name="Picture 3" descr="operations_metrics_20251203_140609_4_correlation.png"/>
          <p:cNvPicPr>
            <a:picLocks noChangeAspect="1"/>
          </p:cNvPicPr>
          <p:nvPr/>
        </p:nvPicPr>
        <p:blipFill>
          <a:blip r:embed="rId2"/>
          <a:stretch>
            <a:fillRect/>
          </a:stretch>
        </p:blipFill>
        <p:spPr>
          <a:xfrm>
            <a:off x="457200" y="2286000"/>
            <a:ext cx="8229600" cy="41148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914400" y="457200"/>
            <a:ext cx="7315200" cy="914400"/>
          </a:xfrm>
          <a:prstGeom prst="rect">
            <a:avLst/>
          </a:prstGeom>
          <a:noFill/>
        </p:spPr>
        <p:txBody>
          <a:bodyPr wrap="none">
            <a:spAutoFit/>
          </a:bodyPr>
          <a:lstStyle/>
          <a:p>
            <a:pPr algn="l">
              <a:defRPr sz="2400" b="1">
                <a:solidFill>
                  <a:srgbClr val="2E75B6"/>
                </a:solidFill>
              </a:defRPr>
            </a:pPr>
            <a:r>
              <a:t>Analysis Chart 5</a:t>
            </a:r>
          </a:p>
        </p:txBody>
      </p:sp>
      <p:sp>
        <p:nvSpPr>
          <p:cNvPr id="3" name="TextBox 2"/>
          <p:cNvSpPr txBox="1"/>
          <p:nvPr/>
        </p:nvSpPr>
        <p:spPr>
          <a:xfrm>
            <a:off x="914400" y="1645920"/>
            <a:ext cx="7315200" cy="548640"/>
          </a:xfrm>
          <a:prstGeom prst="rect">
            <a:avLst/>
          </a:prstGeom>
          <a:noFill/>
        </p:spPr>
        <p:txBody>
          <a:bodyPr wrap="none">
            <a:spAutoFit/>
          </a:bodyPr>
          <a:lstStyle/>
          <a:p>
            <a:pPr>
              <a:defRPr sz="1200">
                <a:solidFill>
                  <a:srgbClr val="666666"/>
                </a:solidFill>
              </a:defRPr>
            </a:pPr>
            <a:r>
              <a:t>Data visualization and analysis.</a:t>
            </a:r>
          </a:p>
        </p:txBody>
      </p:sp>
      <p:pic>
        <p:nvPicPr>
          <p:cNvPr id="4" name="Picture 3" descr="operations_metrics_20251203_140609_5_histogram.png"/>
          <p:cNvPicPr>
            <a:picLocks noChangeAspect="1"/>
          </p:cNvPicPr>
          <p:nvPr/>
        </p:nvPicPr>
        <p:blipFill>
          <a:blip r:embed="rId2"/>
          <a:stretch>
            <a:fillRect/>
          </a:stretch>
        </p:blipFill>
        <p:spPr>
          <a:xfrm>
            <a:off x="457200" y="2286000"/>
            <a:ext cx="8229600" cy="41148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914400" y="457200"/>
            <a:ext cx="7315200" cy="914400"/>
          </a:xfrm>
          <a:prstGeom prst="rect">
            <a:avLst/>
          </a:prstGeom>
          <a:noFill/>
        </p:spPr>
        <p:txBody>
          <a:bodyPr wrap="none">
            <a:spAutoFit/>
          </a:bodyPr>
          <a:lstStyle/>
          <a:p>
            <a:pPr algn="l">
              <a:defRPr sz="2400" b="1">
                <a:solidFill>
                  <a:srgbClr val="2E75B6"/>
                </a:solidFill>
              </a:defRPr>
            </a:pPr>
            <a:r>
              <a:t>Key Insights &amp; Recommendations</a:t>
            </a:r>
          </a:p>
        </p:txBody>
      </p:sp>
      <p:sp>
        <p:nvSpPr>
          <p:cNvPr id="3" name="TextBox 2"/>
          <p:cNvSpPr txBox="1"/>
          <p:nvPr/>
        </p:nvSpPr>
        <p:spPr>
          <a:xfrm>
            <a:off x="914400" y="2011680"/>
            <a:ext cx="7315200" cy="4114800"/>
          </a:xfrm>
          <a:prstGeom prst="rect">
            <a:avLst/>
          </a:prstGeom>
          <a:noFill/>
        </p:spPr>
        <p:txBody>
          <a:bodyPr wrap="square">
            <a:spAutoFit/>
          </a:bodyPr>
          <a:lstStyle/>
          <a:p>
            <a:pPr>
              <a:defRPr sz="1800" b="1">
                <a:solidFill>
                  <a:srgbClr val="2E75B6"/>
                </a:solidFill>
              </a:defRPr>
            </a:pPr>
            <a:r>
              <a:t>Key Business Insights:</a:t>
            </a:r>
          </a:p>
          <a:p>
            <a:pPr>
              <a:spcAft>
                <a:spcPts val="800"/>
              </a:spcAft>
              <a:defRPr sz="1400">
                <a:solidFill>
                  <a:srgbClr val="333333"/>
                </a:solidFill>
              </a:defRPr>
            </a:pPr>
            <a:r>
              <a:t>• Here are the key business insights derived from the operations metrics:</a:t>
            </a:r>
          </a:p>
          <a:p>
            <a:pPr>
              <a:spcAft>
                <a:spcPts val="800"/>
              </a:spcAft>
              <a:defRPr sz="1400">
                <a:solidFill>
                  <a:srgbClr val="333333"/>
                </a:solidFill>
              </a:defRPr>
            </a:pPr>
            <a:r>
              <a:t>• Overall, our operations exhibit a healthy average daily footfall of 641 visitors, with a significant proportion, 506.07, being unique visitors.</a:t>
            </a:r>
          </a:p>
          <a:p>
            <a:pPr>
              <a:spcAft>
                <a:spcPts val="800"/>
              </a:spcAft>
              <a:defRPr sz="1400">
                <a:solidFill>
                  <a:srgbClr val="333333"/>
                </a:solidFill>
              </a:defRPr>
            </a:pPr>
            <a:r>
              <a:t>• However, a critical anomaly requires immediate attention: the "Unique Visitor Ratio" is reported as 573.53.</a:t>
            </a:r>
          </a:p>
          <a:p>
            <a:pPr>
              <a:spcAft>
                <a:spcPts val="1200"/>
              </a:spcAft>
            </a:pPr>
          </a:p>
          <a:p>
            <a:pPr>
              <a:defRPr sz="1800" b="1">
                <a:solidFill>
                  <a:srgbClr val="2E75B6"/>
                </a:solidFill>
              </a:defRPr>
            </a:pPr>
            <a:r>
              <a:t>Strategic Recommendations:</a:t>
            </a:r>
          </a:p>
          <a:p>
            <a:pPr>
              <a:spcAft>
                <a:spcPts val="800"/>
              </a:spcAft>
              <a:defRPr sz="1400">
                <a:solidFill>
                  <a:srgbClr val="333333"/>
                </a:solidFill>
              </a:defRPr>
            </a:pPr>
            <a:r>
              <a:t>• Here are the key business insights derived from the operations metrics:</a:t>
            </a:r>
          </a:p>
          <a:p>
            <a:pPr>
              <a:spcAft>
                <a:spcPts val="800"/>
              </a:spcAft>
              <a:defRPr sz="1400">
                <a:solidFill>
                  <a:srgbClr val="333333"/>
                </a:solidFill>
              </a:defRPr>
            </a:pPr>
            <a:r>
              <a:t>• Overall, our operations exhibit a healthy average daily footfall of 641 visitors, with a significant proportion, 506.07, being unique visitors.</a:t>
            </a:r>
          </a:p>
          <a:p>
            <a:pPr>
              <a:spcAft>
                <a:spcPts val="800"/>
              </a:spcAft>
              <a:defRPr sz="1400">
                <a:solidFill>
                  <a:srgbClr val="333333"/>
                </a:solidFill>
              </a:defRPr>
            </a:pPr>
            <a:r>
              <a:t>• However, a critical anomaly requires immediate attention: the "Unique Visitor Ratio" is reported as 573.53.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F4E79"/>
        </a:solidFill>
        <a:effectLst/>
      </p:bgPr>
    </p:bg>
    <p:spTree>
      <p:nvGrpSpPr>
        <p:cNvPr id="1" name=""/>
        <p:cNvGrpSpPr/>
        <p:nvPr/>
      </p:nvGrpSpPr>
      <p:grpSpPr/>
      <p:sp>
        <p:nvSpPr>
          <p:cNvPr id="2" name="TextBox 1"/>
          <p:cNvSpPr txBox="1"/>
          <p:nvPr/>
        </p:nvSpPr>
        <p:spPr>
          <a:xfrm>
            <a:off x="914400" y="1371600"/>
            <a:ext cx="7315200" cy="914400"/>
          </a:xfrm>
          <a:prstGeom prst="rect">
            <a:avLst/>
          </a:prstGeom>
          <a:noFill/>
        </p:spPr>
        <p:txBody>
          <a:bodyPr wrap="none">
            <a:spAutoFit/>
          </a:bodyPr>
          <a:lstStyle/>
          <a:p>
            <a:pPr algn="ctr">
              <a:defRPr sz="2800" b="1">
                <a:solidFill>
                  <a:srgbClr val="FFFFFF"/>
                </a:solidFill>
              </a:defRPr>
            </a:pPr>
            <a:r>
              <a:t>Next Steps &amp; Action Items</a:t>
            </a:r>
          </a:p>
        </p:txBody>
      </p:sp>
      <p:sp>
        <p:nvSpPr>
          <p:cNvPr id="3" name="TextBox 2"/>
          <p:cNvSpPr txBox="1"/>
          <p:nvPr/>
        </p:nvSpPr>
        <p:spPr>
          <a:xfrm>
            <a:off x="914400" y="2743200"/>
            <a:ext cx="7315200" cy="3200400"/>
          </a:xfrm>
          <a:prstGeom prst="rect">
            <a:avLst/>
          </a:prstGeom>
          <a:noFill/>
        </p:spPr>
        <p:txBody>
          <a:bodyPr wrap="square">
            <a:spAutoFit/>
          </a:bodyPr>
          <a:lstStyle/>
          <a:p>
            <a:pPr algn="ctr">
              <a:defRPr sz="2000" b="1">
                <a:solidFill>
                  <a:srgbClr val="FFFFFF"/>
                </a:solidFill>
              </a:defRPr>
            </a:pPr>
            <a:r>
              <a:t>Key Action Items for Next Quarter:</a:t>
            </a:r>
          </a:p>
          <a:p>
            <a:pPr algn="l">
              <a:spcAft>
                <a:spcPts val="800"/>
              </a:spcAft>
              <a:defRPr sz="1600">
                <a:solidFill>
                  <a:srgbClr val="FFFFFF"/>
                </a:solidFill>
              </a:defRPr>
            </a:pPr>
            <a:r>
              <a:t>• Here are the key business insights derived from the operations metrics:</a:t>
            </a:r>
          </a:p>
          <a:p>
            <a:pPr algn="l">
              <a:spcAft>
                <a:spcPts val="800"/>
              </a:spcAft>
              <a:defRPr sz="1600">
                <a:solidFill>
                  <a:srgbClr val="FFFFFF"/>
                </a:solidFill>
              </a:defRPr>
            </a:pPr>
            <a:r>
              <a:t>• Overall, our operations exhibit a healthy average daily footfall of 641 visitors, with a significant proportion, 506.07, being unique visitors.</a:t>
            </a:r>
          </a:p>
          <a:p>
            <a:pPr algn="l">
              <a:spcAft>
                <a:spcPts val="800"/>
              </a:spcAft>
              <a:defRPr sz="1600">
                <a:solidFill>
                  <a:srgbClr val="FFFFFF"/>
                </a:solidFill>
              </a:defRPr>
            </a:pPr>
            <a:r>
              <a:t>• However, a critical anomaly requires immediate attention: the "Unique Visitor Ratio" is reported as 573.53.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